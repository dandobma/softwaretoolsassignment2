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59" r:id="rId3"/>
    <p:sldId id="260" r:id="rId4"/>
    <p:sldId id="261" r:id="rId5"/>
    <p:sldId id="272" r:id="rId6"/>
    <p:sldId id="266" r:id="rId7"/>
    <p:sldId id="262" r:id="rId8"/>
    <p:sldId id="267" r:id="rId9"/>
    <p:sldId id="263" r:id="rId10"/>
    <p:sldId id="264" r:id="rId11"/>
    <p:sldId id="265" r:id="rId12"/>
    <p:sldId id="268" r:id="rId13"/>
    <p:sldId id="269" r:id="rId14"/>
    <p:sldId id="270" r:id="rId15"/>
    <p:sldId id="258" r:id="rId16"/>
    <p:sldId id="27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71" autoAdjust="0"/>
    <p:restoredTop sz="94660"/>
  </p:normalViewPr>
  <p:slideViewPr>
    <p:cSldViewPr snapToGrid="0">
      <p:cViewPr varScale="1">
        <p:scale>
          <a:sx n="96" d="100"/>
          <a:sy n="96" d="100"/>
        </p:scale>
        <p:origin x="8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B9DAD1-22A4-487D-9C26-1BC13F008303}" type="datetimeFigureOut">
              <a:rPr lang="en-CA" smtClean="0"/>
              <a:t>2025-10-13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225020-5F79-4157-8901-8009BBE245A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453193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225020-5F79-4157-8901-8009BBE245A1}" type="slidenum">
              <a:rPr lang="en-CA" smtClean="0"/>
              <a:t>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941002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45696-13FF-4521-AFB9-A1CC0A5F22A1}" type="datetimeFigureOut">
              <a:rPr lang="en-CA" smtClean="0"/>
              <a:t>2025-10-13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5FE6D-77C1-40B3-A79B-9F95DCA57CD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272674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45696-13FF-4521-AFB9-A1CC0A5F22A1}" type="datetimeFigureOut">
              <a:rPr lang="en-CA" smtClean="0"/>
              <a:t>2025-10-13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5FE6D-77C1-40B3-A79B-9F95DCA57CD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703950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45696-13FF-4521-AFB9-A1CC0A5F22A1}" type="datetimeFigureOut">
              <a:rPr lang="en-CA" smtClean="0"/>
              <a:t>2025-10-13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5FE6D-77C1-40B3-A79B-9F95DCA57CD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043327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45696-13FF-4521-AFB9-A1CC0A5F22A1}" type="datetimeFigureOut">
              <a:rPr lang="en-CA" smtClean="0"/>
              <a:t>2025-10-13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5FE6D-77C1-40B3-A79B-9F95DCA57CD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618540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45696-13FF-4521-AFB9-A1CC0A5F22A1}" type="datetimeFigureOut">
              <a:rPr lang="en-CA" smtClean="0"/>
              <a:t>2025-10-13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5FE6D-77C1-40B3-A79B-9F95DCA57CD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059576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45696-13FF-4521-AFB9-A1CC0A5F22A1}" type="datetimeFigureOut">
              <a:rPr lang="en-CA" smtClean="0"/>
              <a:t>2025-10-13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5FE6D-77C1-40B3-A79B-9F95DCA57CD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192520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45696-13FF-4521-AFB9-A1CC0A5F22A1}" type="datetimeFigureOut">
              <a:rPr lang="en-CA" smtClean="0"/>
              <a:t>2025-10-13</a:t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5FE6D-77C1-40B3-A79B-9F95DCA57CD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177239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45696-13FF-4521-AFB9-A1CC0A5F22A1}" type="datetimeFigureOut">
              <a:rPr lang="en-CA" smtClean="0"/>
              <a:t>2025-10-13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5FE6D-77C1-40B3-A79B-9F95DCA57CD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960409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45696-13FF-4521-AFB9-A1CC0A5F22A1}" type="datetimeFigureOut">
              <a:rPr lang="en-CA" smtClean="0"/>
              <a:t>2025-10-13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5FE6D-77C1-40B3-A79B-9F95DCA57CD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27585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45696-13FF-4521-AFB9-A1CC0A5F22A1}" type="datetimeFigureOut">
              <a:rPr lang="en-CA" smtClean="0"/>
              <a:t>2025-10-13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5FE6D-77C1-40B3-A79B-9F95DCA57CD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701106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45696-13FF-4521-AFB9-A1CC0A5F22A1}" type="datetimeFigureOut">
              <a:rPr lang="en-CA" smtClean="0"/>
              <a:t>2025-10-13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5FE6D-77C1-40B3-A79B-9F95DCA57CD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689178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E45696-13FF-4521-AFB9-A1CC0A5F22A1}" type="datetimeFigureOut">
              <a:rPr lang="en-CA" smtClean="0"/>
              <a:t>2025-10-13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05FE6D-77C1-40B3-A79B-9F95DCA57CD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395078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hyperlink" Target="https://rstudio.github.io/cheatsheets/html/data-transformation.html" TargetMode="External"/><Relationship Id="rId3" Type="http://schemas.openxmlformats.org/officeDocument/2006/relationships/hyperlink" Target="https://evolution.berkeley.edu/evo-news/a-new-old-animal" TargetMode="External"/><Relationship Id="rId7" Type="http://schemas.openxmlformats.org/officeDocument/2006/relationships/hyperlink" Target="https://rstudio.github.io/cheatsheets/html/strings.html" TargetMode="External"/><Relationship Id="rId2" Type="http://schemas.openxmlformats.org/officeDocument/2006/relationships/hyperlink" Target="https://thenode.biologists.com/a-day-in-the-life-of-an-onychophoran-lab/lablife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rstudio.github.io/cheatsheets/html/data-visualization.html" TargetMode="External"/><Relationship Id="rId5" Type="http://schemas.openxmlformats.org/officeDocument/2006/relationships/hyperlink" Target="https://www.inaturalist.org/observations/145767270" TargetMode="External"/><Relationship Id="rId4" Type="http://schemas.openxmlformats.org/officeDocument/2006/relationships/hyperlink" Target="https://www.hereon.de/communication_media/news/105329/index.php.en" TargetMode="Externa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hyperlink" Target="https://stackoverflow.com/questions/76280929/how-to-use-pivot-longer-in-r?utm_source=chatgpt.com" TargetMode="External"/><Relationship Id="rId3" Type="http://schemas.openxmlformats.org/officeDocument/2006/relationships/hyperlink" Target="https://www.bioconductor.org/packages/2.7/bioc/vignettes/Biostrings/inst/doc/Alignments.pdf" TargetMode="External"/><Relationship Id="rId7" Type="http://schemas.openxmlformats.org/officeDocument/2006/relationships/hyperlink" Target="https://www.appsilon.com/post/r-doparallel-dataframe?utm_source=chatgpt.com" TargetMode="External"/><Relationship Id="rId12" Type="http://schemas.openxmlformats.org/officeDocument/2006/relationships/hyperlink" Target="https://tmieno2.github.io/R-as-GIS-for-Economists/ggsave.html?utm_source=chatgpt.com" TargetMode="External"/><Relationship Id="rId2" Type="http://schemas.openxmlformats.org/officeDocument/2006/relationships/hyperlink" Target="https://r-graph-gallery.com/14-venn-diagramm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spsanderson.com/steveondata/posts/2024-05-21/?utm_source=chatgpt.com" TargetMode="External"/><Relationship Id="rId11" Type="http://schemas.openxmlformats.org/officeDocument/2006/relationships/hyperlink" Target="https://stackoverflow.com/questions/44711236/set-the-size-of-ggsave-exactly?utm_source=chatgpt.com" TargetMode="External"/><Relationship Id="rId5" Type="http://schemas.openxmlformats.org/officeDocument/2006/relationships/hyperlink" Target="https://privefl.github.io/blog/a-guide-to-parallelism-in-r/?utm_source=chatgpt.com" TargetMode="External"/><Relationship Id="rId10" Type="http://schemas.openxmlformats.org/officeDocument/2006/relationships/hyperlink" Target="https://stackoverflow.com/questions/70309119/why-am-i-not-getting-high-resolution-with-ggsave?utm_source=chatgpt.com" TargetMode="External"/><Relationship Id="rId4" Type="http://schemas.openxmlformats.org/officeDocument/2006/relationships/hyperlink" Target="https://stackoverflow.com/questions/5571774/what-is-the-easiest-way-to-parallelize-a-vectorized-function-in-r?utm_source=chatgpt.com" TargetMode="External"/><Relationship Id="rId9" Type="http://schemas.openxmlformats.org/officeDocument/2006/relationships/hyperlink" Target="https://r-charts.com/correlation/heat-map-ggplot2/?utm_source=chatgpt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2374693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CA" dirty="0" smtClean="0"/>
              <a:t>Environmental overlap and its impact on </a:t>
            </a:r>
            <a:r>
              <a:rPr lang="en-CA" dirty="0" err="1"/>
              <a:t>b</a:t>
            </a:r>
            <a:r>
              <a:rPr lang="en-CA" dirty="0" err="1" smtClean="0"/>
              <a:t>odyplan</a:t>
            </a:r>
            <a:r>
              <a:rPr lang="en-CA" dirty="0" smtClean="0"/>
              <a:t> similarity between </a:t>
            </a:r>
            <a:r>
              <a:rPr lang="en-CA" dirty="0" err="1" smtClean="0"/>
              <a:t>Onychophora</a:t>
            </a:r>
            <a:r>
              <a:rPr lang="en-CA" dirty="0" smtClean="0"/>
              <a:t> and </a:t>
            </a:r>
            <a:r>
              <a:rPr lang="en-CA" dirty="0" err="1" smtClean="0"/>
              <a:t>Chilopoda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2585453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6895" y="365125"/>
            <a:ext cx="11211340" cy="1325563"/>
          </a:xfrm>
        </p:spPr>
        <p:txBody>
          <a:bodyPr/>
          <a:lstStyle/>
          <a:p>
            <a:r>
              <a:rPr lang="en-CA" dirty="0" err="1" smtClean="0"/>
              <a:t>Onychophora</a:t>
            </a:r>
            <a:r>
              <a:rPr lang="en-CA" dirty="0" smtClean="0"/>
              <a:t> are an unique and elusive phylum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CA" dirty="0" smtClean="0"/>
              <a:t>Often referred to as “Velvet Worms”</a:t>
            </a:r>
          </a:p>
          <a:p>
            <a:r>
              <a:rPr lang="en-CA" dirty="0" smtClean="0"/>
              <a:t>Closest living relatives of Arthropods (Mayer et al, 2015)</a:t>
            </a:r>
          </a:p>
          <a:p>
            <a:r>
              <a:rPr lang="en-CA" dirty="0" smtClean="0"/>
              <a:t>Found in humid regions</a:t>
            </a:r>
          </a:p>
          <a:p>
            <a:pPr lvl="1"/>
            <a:r>
              <a:rPr lang="en-CA" dirty="0" smtClean="0"/>
              <a:t>Tropical and temperate forests</a:t>
            </a:r>
          </a:p>
          <a:p>
            <a:pPr lvl="1"/>
            <a:r>
              <a:rPr lang="en-CA" dirty="0" smtClean="0"/>
              <a:t>Prefer leaf litter</a:t>
            </a:r>
          </a:p>
          <a:p>
            <a:r>
              <a:rPr lang="en-CA" dirty="0" smtClean="0"/>
              <a:t>Potential model organism for studying Arthropod evolution (</a:t>
            </a:r>
            <a:r>
              <a:rPr lang="en-CA" dirty="0" err="1" smtClean="0"/>
              <a:t>Treffkorn</a:t>
            </a:r>
            <a:r>
              <a:rPr lang="en-CA" dirty="0" smtClean="0"/>
              <a:t>, 2019)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199" y="1825625"/>
            <a:ext cx="5672326" cy="4351338"/>
          </a:xfrm>
        </p:spPr>
      </p:pic>
      <p:sp>
        <p:nvSpPr>
          <p:cNvPr id="4" name="TextBox 3"/>
          <p:cNvSpPr txBox="1"/>
          <p:nvPr/>
        </p:nvSpPr>
        <p:spPr>
          <a:xfrm>
            <a:off x="10107409" y="6311900"/>
            <a:ext cx="16108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 err="1" smtClean="0"/>
              <a:t>Treffkorn</a:t>
            </a:r>
            <a:r>
              <a:rPr lang="en-CA" dirty="0" smtClean="0"/>
              <a:t>, 2019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451399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8235" y="365125"/>
            <a:ext cx="11549269" cy="1325563"/>
          </a:xfrm>
        </p:spPr>
        <p:txBody>
          <a:bodyPr/>
          <a:lstStyle/>
          <a:p>
            <a:r>
              <a:rPr lang="en-CA" dirty="0" err="1" smtClean="0"/>
              <a:t>Chilopoda</a:t>
            </a:r>
            <a:r>
              <a:rPr lang="en-CA" dirty="0" smtClean="0"/>
              <a:t> share some morphology with </a:t>
            </a:r>
            <a:r>
              <a:rPr lang="en-CA" dirty="0" err="1" smtClean="0"/>
              <a:t>Onychophora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CA" dirty="0" smtClean="0"/>
              <a:t>Commonly referred to as “Centipedes”</a:t>
            </a:r>
          </a:p>
          <a:p>
            <a:r>
              <a:rPr lang="en-CA" dirty="0" smtClean="0"/>
              <a:t>Part of the subphylum </a:t>
            </a:r>
            <a:r>
              <a:rPr lang="en-CA" dirty="0" err="1" smtClean="0"/>
              <a:t>Myriapoda</a:t>
            </a:r>
            <a:endParaRPr lang="en-CA" dirty="0"/>
          </a:p>
          <a:p>
            <a:pPr lvl="1"/>
            <a:r>
              <a:rPr lang="en-CA" dirty="0" smtClean="0"/>
              <a:t>Is superficially similar to </a:t>
            </a:r>
            <a:r>
              <a:rPr lang="en-CA" dirty="0" err="1" smtClean="0"/>
              <a:t>Onychophorans</a:t>
            </a:r>
            <a:endParaRPr lang="en-CA" dirty="0" smtClean="0"/>
          </a:p>
          <a:p>
            <a:pPr lvl="1"/>
            <a:r>
              <a:rPr lang="en-CA" dirty="0" smtClean="0"/>
              <a:t>Many-legged, predatory, related organisms</a:t>
            </a:r>
            <a:endParaRPr lang="en-CA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7936" y="1825625"/>
            <a:ext cx="5668411" cy="3479488"/>
          </a:xfrm>
        </p:spPr>
      </p:pic>
      <p:sp>
        <p:nvSpPr>
          <p:cNvPr id="4" name="TextBox 3"/>
          <p:cNvSpPr txBox="1"/>
          <p:nvPr/>
        </p:nvSpPr>
        <p:spPr>
          <a:xfrm>
            <a:off x="9640309" y="5440050"/>
            <a:ext cx="23860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 smtClean="0"/>
              <a:t>A new old animal, 2013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3916281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1648" y="258417"/>
            <a:ext cx="11548988" cy="1799777"/>
          </a:xfrm>
        </p:spPr>
        <p:txBody>
          <a:bodyPr>
            <a:normAutofit fontScale="90000"/>
          </a:bodyPr>
          <a:lstStyle/>
          <a:p>
            <a:pPr algn="ctr"/>
            <a:r>
              <a:rPr lang="en-CA" dirty="0" smtClean="0"/>
              <a:t>Are their morphological similarities explained by convergent evolution, as a result of environmental pressures?</a:t>
            </a:r>
            <a:endParaRPr lang="en-CA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648" y="2058194"/>
            <a:ext cx="5837298" cy="3886200"/>
          </a:xfrm>
        </p:spPr>
      </p:pic>
      <p:pic>
        <p:nvPicPr>
          <p:cNvPr id="6" name="Content Placeholder 5"/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689036" y="2058194"/>
            <a:ext cx="5181600" cy="3886200"/>
          </a:xfrm>
        </p:spPr>
      </p:pic>
      <p:sp>
        <p:nvSpPr>
          <p:cNvPr id="3" name="TextBox 2"/>
          <p:cNvSpPr txBox="1"/>
          <p:nvPr/>
        </p:nvSpPr>
        <p:spPr>
          <a:xfrm>
            <a:off x="321648" y="5944394"/>
            <a:ext cx="17193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 smtClean="0"/>
              <a:t>(Martin C, 2022)</a:t>
            </a:r>
            <a:endParaRPr lang="en-CA" dirty="0"/>
          </a:p>
        </p:txBody>
      </p:sp>
      <p:sp>
        <p:nvSpPr>
          <p:cNvPr id="4" name="TextBox 3"/>
          <p:cNvSpPr txBox="1"/>
          <p:nvPr/>
        </p:nvSpPr>
        <p:spPr>
          <a:xfrm>
            <a:off x="10154782" y="5944394"/>
            <a:ext cx="17158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 smtClean="0"/>
              <a:t>(Borges C, 2023)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7594174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 smtClean="0"/>
              <a:t>Hypothesis: There will be considerable environmental overlap between </a:t>
            </a:r>
            <a:r>
              <a:rPr lang="en-CA" dirty="0" err="1" smtClean="0"/>
              <a:t>Onychophora</a:t>
            </a:r>
            <a:r>
              <a:rPr lang="en-CA" dirty="0" smtClean="0"/>
              <a:t> and </a:t>
            </a:r>
            <a:r>
              <a:rPr lang="en-CA" dirty="0" err="1" smtClean="0"/>
              <a:t>Chilopoda</a:t>
            </a:r>
            <a:r>
              <a:rPr lang="en-CA" dirty="0" smtClean="0"/>
              <a:t>.</a:t>
            </a:r>
            <a:endParaRPr lang="en-CA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709948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smtClean="0"/>
              <a:t>Methods</a:t>
            </a:r>
            <a:endParaRPr lang="en-CA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934526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lowchart: Process 1"/>
          <p:cNvSpPr/>
          <p:nvPr/>
        </p:nvSpPr>
        <p:spPr>
          <a:xfrm>
            <a:off x="218661" y="258417"/>
            <a:ext cx="3130826" cy="1759226"/>
          </a:xfrm>
          <a:prstGeom prst="flowChartProcess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 smtClean="0">
                <a:solidFill>
                  <a:sysClr val="windowText" lastClr="000000"/>
                </a:solidFill>
              </a:rPr>
              <a:t>Download </a:t>
            </a:r>
            <a:r>
              <a:rPr lang="en-CA" dirty="0" err="1" smtClean="0">
                <a:solidFill>
                  <a:sysClr val="windowText" lastClr="000000"/>
                </a:solidFill>
              </a:rPr>
              <a:t>Onychophora</a:t>
            </a:r>
            <a:r>
              <a:rPr lang="en-CA" dirty="0" smtClean="0">
                <a:solidFill>
                  <a:sysClr val="windowText" lastClr="000000"/>
                </a:solidFill>
              </a:rPr>
              <a:t> and </a:t>
            </a:r>
            <a:r>
              <a:rPr lang="en-CA" dirty="0" err="1" smtClean="0">
                <a:solidFill>
                  <a:sysClr val="windowText" lastClr="000000"/>
                </a:solidFill>
              </a:rPr>
              <a:t>Chilopoda</a:t>
            </a:r>
            <a:r>
              <a:rPr lang="en-CA" dirty="0" smtClean="0">
                <a:solidFill>
                  <a:sysClr val="windowText" lastClr="000000"/>
                </a:solidFill>
              </a:rPr>
              <a:t> data from BOLD and read it into </a:t>
            </a:r>
            <a:r>
              <a:rPr lang="en-CA" dirty="0" err="1" smtClean="0">
                <a:solidFill>
                  <a:sysClr val="windowText" lastClr="000000"/>
                </a:solidFill>
              </a:rPr>
              <a:t>RStudio</a:t>
            </a:r>
            <a:endParaRPr lang="en-CA" dirty="0">
              <a:solidFill>
                <a:sysClr val="windowText" lastClr="000000"/>
              </a:solidFill>
            </a:endParaRPr>
          </a:p>
        </p:txBody>
      </p:sp>
      <p:sp>
        <p:nvSpPr>
          <p:cNvPr id="3" name="Isosceles Triangle 2"/>
          <p:cNvSpPr/>
          <p:nvPr/>
        </p:nvSpPr>
        <p:spPr>
          <a:xfrm rot="10800000">
            <a:off x="1416326" y="2097157"/>
            <a:ext cx="735496" cy="129208"/>
          </a:xfrm>
          <a:prstGeom prst="triangl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" name="Flowchart: Process 3"/>
          <p:cNvSpPr/>
          <p:nvPr/>
        </p:nvSpPr>
        <p:spPr>
          <a:xfrm>
            <a:off x="218661" y="2305880"/>
            <a:ext cx="3130826" cy="1759226"/>
          </a:xfrm>
          <a:prstGeom prst="flowChartProcess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 smtClean="0">
                <a:solidFill>
                  <a:sysClr val="windowText" lastClr="000000"/>
                </a:solidFill>
              </a:rPr>
              <a:t>Explore the </a:t>
            </a:r>
            <a:r>
              <a:rPr lang="en-CA" dirty="0" err="1" smtClean="0">
                <a:solidFill>
                  <a:sysClr val="windowText" lastClr="000000"/>
                </a:solidFill>
              </a:rPr>
              <a:t>dataframes</a:t>
            </a:r>
            <a:r>
              <a:rPr lang="en-CA" dirty="0" smtClean="0">
                <a:solidFill>
                  <a:sysClr val="windowText" lastClr="000000"/>
                </a:solidFill>
              </a:rPr>
              <a:t> to understand their structure and content</a:t>
            </a:r>
            <a:endParaRPr lang="en-CA" dirty="0">
              <a:solidFill>
                <a:sysClr val="windowText" lastClr="000000"/>
              </a:solidFill>
            </a:endParaRPr>
          </a:p>
        </p:txBody>
      </p:sp>
      <p:sp>
        <p:nvSpPr>
          <p:cNvPr id="5" name="Isosceles Triangle 4"/>
          <p:cNvSpPr/>
          <p:nvPr/>
        </p:nvSpPr>
        <p:spPr>
          <a:xfrm rot="10800000">
            <a:off x="1416325" y="4144620"/>
            <a:ext cx="735496" cy="129208"/>
          </a:xfrm>
          <a:prstGeom prst="triangl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" name="Flowchart: Process 5"/>
          <p:cNvSpPr/>
          <p:nvPr/>
        </p:nvSpPr>
        <p:spPr>
          <a:xfrm>
            <a:off x="218660" y="4353342"/>
            <a:ext cx="3130826" cy="1759226"/>
          </a:xfrm>
          <a:prstGeom prst="flowChartProcess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 smtClean="0">
                <a:solidFill>
                  <a:sysClr val="windowText" lastClr="000000"/>
                </a:solidFill>
              </a:rPr>
              <a:t>Determine shared environments, and all unique species found in those environments</a:t>
            </a:r>
            <a:endParaRPr lang="en-CA" dirty="0">
              <a:solidFill>
                <a:sysClr val="windowText" lastClr="000000"/>
              </a:solidFill>
            </a:endParaRPr>
          </a:p>
        </p:txBody>
      </p:sp>
      <p:sp>
        <p:nvSpPr>
          <p:cNvPr id="13" name="Bent Arrow 12"/>
          <p:cNvSpPr/>
          <p:nvPr/>
        </p:nvSpPr>
        <p:spPr>
          <a:xfrm>
            <a:off x="3458817" y="785190"/>
            <a:ext cx="318052" cy="5327377"/>
          </a:xfrm>
          <a:prstGeom prst="ben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chemeClr val="tx1"/>
              </a:solidFill>
            </a:endParaRPr>
          </a:p>
        </p:txBody>
      </p:sp>
      <p:sp>
        <p:nvSpPr>
          <p:cNvPr id="14" name="Flowchart: Process 13"/>
          <p:cNvSpPr/>
          <p:nvPr/>
        </p:nvSpPr>
        <p:spPr>
          <a:xfrm>
            <a:off x="3886199" y="258417"/>
            <a:ext cx="3130826" cy="1759226"/>
          </a:xfrm>
          <a:prstGeom prst="flowChartProcess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 smtClean="0">
                <a:solidFill>
                  <a:sysClr val="windowText" lastClr="000000"/>
                </a:solidFill>
              </a:rPr>
              <a:t>Visually represent number of species found in shared environments, and compare it to species not sharing environments</a:t>
            </a:r>
            <a:endParaRPr lang="en-CA" dirty="0">
              <a:solidFill>
                <a:sysClr val="windowText" lastClr="000000"/>
              </a:solidFill>
            </a:endParaRPr>
          </a:p>
        </p:txBody>
      </p:sp>
      <p:sp>
        <p:nvSpPr>
          <p:cNvPr id="15" name="Isosceles Triangle 14"/>
          <p:cNvSpPr/>
          <p:nvPr/>
        </p:nvSpPr>
        <p:spPr>
          <a:xfrm rot="10800000">
            <a:off x="5083864" y="2097158"/>
            <a:ext cx="735496" cy="129208"/>
          </a:xfrm>
          <a:prstGeom prst="triangl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6" name="Flowchart: Process 15"/>
          <p:cNvSpPr/>
          <p:nvPr/>
        </p:nvSpPr>
        <p:spPr>
          <a:xfrm>
            <a:off x="3886199" y="2305880"/>
            <a:ext cx="3130826" cy="1759226"/>
          </a:xfrm>
          <a:prstGeom prst="flowChartProcess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 smtClean="0">
                <a:solidFill>
                  <a:sysClr val="windowText" lastClr="000000"/>
                </a:solidFill>
              </a:rPr>
              <a:t>Conduct a pairwise analysis of </a:t>
            </a:r>
            <a:r>
              <a:rPr lang="en-CA" dirty="0" err="1" smtClean="0">
                <a:solidFill>
                  <a:sysClr val="windowText" lastClr="000000"/>
                </a:solidFill>
              </a:rPr>
              <a:t>Onychophora</a:t>
            </a:r>
            <a:r>
              <a:rPr lang="en-CA" dirty="0" smtClean="0">
                <a:solidFill>
                  <a:sysClr val="windowText" lastClr="000000"/>
                </a:solidFill>
              </a:rPr>
              <a:t> and </a:t>
            </a:r>
            <a:r>
              <a:rPr lang="en-CA" dirty="0" err="1" smtClean="0">
                <a:solidFill>
                  <a:sysClr val="windowText" lastClr="000000"/>
                </a:solidFill>
              </a:rPr>
              <a:t>Chilopoda</a:t>
            </a:r>
            <a:r>
              <a:rPr lang="en-CA" dirty="0" smtClean="0">
                <a:solidFill>
                  <a:sysClr val="windowText" lastClr="000000"/>
                </a:solidFill>
              </a:rPr>
              <a:t> BINs to determine similarity</a:t>
            </a:r>
            <a:endParaRPr lang="en-CA" dirty="0">
              <a:solidFill>
                <a:sysClr val="windowText" lastClr="000000"/>
              </a:solidFill>
            </a:endParaRPr>
          </a:p>
        </p:txBody>
      </p:sp>
      <p:sp>
        <p:nvSpPr>
          <p:cNvPr id="17" name="Isosceles Triangle 16"/>
          <p:cNvSpPr/>
          <p:nvPr/>
        </p:nvSpPr>
        <p:spPr>
          <a:xfrm rot="10800000">
            <a:off x="5083864" y="4144620"/>
            <a:ext cx="735496" cy="129208"/>
          </a:xfrm>
          <a:prstGeom prst="triangl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8" name="Flowchart: Process 17"/>
          <p:cNvSpPr/>
          <p:nvPr/>
        </p:nvSpPr>
        <p:spPr>
          <a:xfrm>
            <a:off x="3886198" y="4353341"/>
            <a:ext cx="3130826" cy="1759226"/>
          </a:xfrm>
          <a:prstGeom prst="flowChartProcess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 smtClean="0">
                <a:solidFill>
                  <a:sysClr val="windowText" lastClr="000000"/>
                </a:solidFill>
              </a:rPr>
              <a:t>Visually represent BIN similarity with a pairwise alignment </a:t>
            </a:r>
            <a:r>
              <a:rPr lang="en-CA" dirty="0" err="1" smtClean="0">
                <a:solidFill>
                  <a:sysClr val="windowText" lastClr="000000"/>
                </a:solidFill>
              </a:rPr>
              <a:t>heatmap</a:t>
            </a:r>
            <a:endParaRPr lang="en-CA" dirty="0">
              <a:solidFill>
                <a:sysClr val="windowText" lastClr="000000"/>
              </a:solidFill>
            </a:endParaRPr>
          </a:p>
        </p:txBody>
      </p:sp>
      <p:sp>
        <p:nvSpPr>
          <p:cNvPr id="19" name="Bent Arrow 18"/>
          <p:cNvSpPr/>
          <p:nvPr/>
        </p:nvSpPr>
        <p:spPr>
          <a:xfrm>
            <a:off x="7126353" y="3011557"/>
            <a:ext cx="318052" cy="3101009"/>
          </a:xfrm>
          <a:prstGeom prst="ben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chemeClr val="tx1"/>
              </a:solidFill>
            </a:endParaRPr>
          </a:p>
        </p:txBody>
      </p:sp>
      <p:sp>
        <p:nvSpPr>
          <p:cNvPr id="20" name="Flowchart: Process 19"/>
          <p:cNvSpPr/>
          <p:nvPr/>
        </p:nvSpPr>
        <p:spPr>
          <a:xfrm>
            <a:off x="7553733" y="1920524"/>
            <a:ext cx="4502432" cy="2529938"/>
          </a:xfrm>
          <a:prstGeom prst="flowChartProcess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 smtClean="0">
                <a:solidFill>
                  <a:sysClr val="windowText" lastClr="000000"/>
                </a:solidFill>
              </a:rPr>
              <a:t>Determine if there is evidence of environmental pressures causing morphological similarities between </a:t>
            </a:r>
            <a:r>
              <a:rPr lang="en-CA" dirty="0" err="1" smtClean="0">
                <a:solidFill>
                  <a:sysClr val="windowText" lastClr="000000"/>
                </a:solidFill>
              </a:rPr>
              <a:t>Onychophorans</a:t>
            </a:r>
            <a:r>
              <a:rPr lang="en-CA" dirty="0" smtClean="0">
                <a:solidFill>
                  <a:sysClr val="windowText" lastClr="000000"/>
                </a:solidFill>
              </a:rPr>
              <a:t> and </a:t>
            </a:r>
            <a:r>
              <a:rPr lang="en-CA" dirty="0" err="1" smtClean="0">
                <a:solidFill>
                  <a:sysClr val="windowText" lastClr="000000"/>
                </a:solidFill>
              </a:rPr>
              <a:t>Chilopodans</a:t>
            </a:r>
            <a:endParaRPr lang="en-CA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81674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smtClean="0"/>
              <a:t>Figures</a:t>
            </a:r>
            <a:endParaRPr lang="en-CA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842228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599" y="168965"/>
            <a:ext cx="11698357" cy="1521723"/>
          </a:xfrm>
        </p:spPr>
        <p:txBody>
          <a:bodyPr>
            <a:normAutofit/>
          </a:bodyPr>
          <a:lstStyle/>
          <a:p>
            <a:r>
              <a:rPr lang="en-CA" dirty="0" smtClean="0"/>
              <a:t>Few </a:t>
            </a:r>
            <a:r>
              <a:rPr lang="en-CA" dirty="0" err="1" smtClean="0"/>
              <a:t>Onychophora</a:t>
            </a:r>
            <a:r>
              <a:rPr lang="en-CA" dirty="0" smtClean="0"/>
              <a:t> and </a:t>
            </a:r>
            <a:r>
              <a:rPr lang="en-CA" dirty="0" err="1" smtClean="0"/>
              <a:t>Chilopoda</a:t>
            </a:r>
            <a:r>
              <a:rPr lang="en-CA" dirty="0" smtClean="0"/>
              <a:t> species have been sampled in their shared environments</a:t>
            </a:r>
            <a:endParaRPr lang="en-CA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5865" y="1826611"/>
            <a:ext cx="8120269" cy="4872162"/>
          </a:xfrm>
        </p:spPr>
      </p:pic>
    </p:spTree>
    <p:extLst>
      <p:ext uri="{BB962C8B-B14F-4D97-AF65-F5344CB8AC3E}">
        <p14:creationId xmlns:p14="http://schemas.microsoft.com/office/powerpoint/2010/main" val="36911640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539" y="159027"/>
            <a:ext cx="11589025" cy="1531662"/>
          </a:xfrm>
        </p:spPr>
        <p:txBody>
          <a:bodyPr/>
          <a:lstStyle/>
          <a:p>
            <a:r>
              <a:rPr lang="en-CA" dirty="0" smtClean="0"/>
              <a:t>The majority of </a:t>
            </a:r>
            <a:r>
              <a:rPr lang="en-CA" dirty="0" err="1" smtClean="0"/>
              <a:t>Chilopoda</a:t>
            </a:r>
            <a:r>
              <a:rPr lang="en-CA" dirty="0" smtClean="0"/>
              <a:t> species do not share an ecoregion with </a:t>
            </a:r>
            <a:r>
              <a:rPr lang="en-CA" dirty="0" err="1" smtClean="0"/>
              <a:t>Onychophora</a:t>
            </a:r>
            <a:r>
              <a:rPr lang="en-CA" dirty="0" smtClean="0"/>
              <a:t> species</a:t>
            </a:r>
            <a:endParaRPr lang="en-CA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5683" y="1779105"/>
            <a:ext cx="8060634" cy="4836381"/>
          </a:xfrm>
        </p:spPr>
      </p:pic>
    </p:spTree>
    <p:extLst>
      <p:ext uri="{BB962C8B-B14F-4D97-AF65-F5344CB8AC3E}">
        <p14:creationId xmlns:p14="http://schemas.microsoft.com/office/powerpoint/2010/main" val="16333084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721" y="139149"/>
            <a:ext cx="11847443" cy="1551540"/>
          </a:xfrm>
        </p:spPr>
        <p:txBody>
          <a:bodyPr>
            <a:normAutofit fontScale="90000"/>
          </a:bodyPr>
          <a:lstStyle/>
          <a:p>
            <a:r>
              <a:rPr lang="en-CA" dirty="0" smtClean="0"/>
              <a:t>A pairwise alignment of 500 sampled </a:t>
            </a:r>
            <a:r>
              <a:rPr lang="en-CA" dirty="0" err="1" smtClean="0"/>
              <a:t>Onychophora</a:t>
            </a:r>
            <a:r>
              <a:rPr lang="en-CA" dirty="0" smtClean="0"/>
              <a:t> and </a:t>
            </a:r>
            <a:r>
              <a:rPr lang="en-CA" dirty="0" err="1" smtClean="0"/>
              <a:t>Chilopoda</a:t>
            </a:r>
            <a:r>
              <a:rPr lang="en-CA" dirty="0" smtClean="0"/>
              <a:t> BIN sequences showed some relatedness</a:t>
            </a:r>
            <a:endParaRPr lang="en-CA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3016" y="1482918"/>
            <a:ext cx="6718852" cy="5375082"/>
          </a:xfrm>
        </p:spPr>
      </p:pic>
    </p:spTree>
    <p:extLst>
      <p:ext uri="{BB962C8B-B14F-4D97-AF65-F5344CB8AC3E}">
        <p14:creationId xmlns:p14="http://schemas.microsoft.com/office/powerpoint/2010/main" val="19891262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smtClean="0"/>
              <a:t>Results and Discussion</a:t>
            </a:r>
            <a:endParaRPr lang="en-CA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937893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smtClean="0"/>
              <a:t>Analysis shows little environmental overlap between </a:t>
            </a:r>
            <a:r>
              <a:rPr lang="en-CA" dirty="0" err="1" smtClean="0"/>
              <a:t>Onychophora</a:t>
            </a:r>
            <a:r>
              <a:rPr lang="en-CA" dirty="0" smtClean="0"/>
              <a:t> and </a:t>
            </a:r>
            <a:r>
              <a:rPr lang="en-CA" dirty="0" err="1" smtClean="0"/>
              <a:t>Chilopoda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 smtClean="0"/>
              <a:t>It is unlikely that environmental pressures are a major contributing factor to similarities in body plan between velvet worms and centipedes.</a:t>
            </a:r>
          </a:p>
          <a:p>
            <a:r>
              <a:rPr lang="en-CA" dirty="0" smtClean="0"/>
              <a:t>Proportionally, very few sampled </a:t>
            </a:r>
            <a:r>
              <a:rPr lang="en-CA" dirty="0" err="1" smtClean="0"/>
              <a:t>Chilopoda</a:t>
            </a:r>
            <a:r>
              <a:rPr lang="en-CA" dirty="0" smtClean="0"/>
              <a:t> species are located in regions shared with </a:t>
            </a:r>
            <a:r>
              <a:rPr lang="en-CA" dirty="0" err="1" smtClean="0"/>
              <a:t>Onychophora</a:t>
            </a:r>
            <a:r>
              <a:rPr lang="en-CA" dirty="0" smtClean="0"/>
              <a:t>.</a:t>
            </a:r>
          </a:p>
          <a:p>
            <a:pPr lvl="1"/>
            <a:r>
              <a:rPr lang="en-CA" dirty="0" smtClean="0"/>
              <a:t>Further, there are few regions that host both species simultaneously.</a:t>
            </a:r>
          </a:p>
          <a:p>
            <a:r>
              <a:rPr lang="en-CA" dirty="0" smtClean="0"/>
              <a:t>Pairwise alignment shows some, but </a:t>
            </a:r>
            <a:r>
              <a:rPr lang="en-CA" smtClean="0"/>
              <a:t>not </a:t>
            </a:r>
            <a:r>
              <a:rPr lang="en-CA" smtClean="0"/>
              <a:t>strong </a:t>
            </a:r>
            <a:r>
              <a:rPr lang="en-CA" dirty="0" smtClean="0"/>
              <a:t>BIN sequence similarity.</a:t>
            </a:r>
          </a:p>
        </p:txBody>
      </p:sp>
    </p:spTree>
    <p:extLst>
      <p:ext uri="{BB962C8B-B14F-4D97-AF65-F5344CB8AC3E}">
        <p14:creationId xmlns:p14="http://schemas.microsoft.com/office/powerpoint/2010/main" val="14608794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CA" dirty="0" smtClean="0"/>
              <a:t>Issues with analysis and further steps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14400"/>
            <a:ext cx="10515600" cy="5834270"/>
          </a:xfrm>
        </p:spPr>
        <p:txBody>
          <a:bodyPr/>
          <a:lstStyle/>
          <a:p>
            <a:r>
              <a:rPr lang="en-CA" dirty="0" err="1" smtClean="0"/>
              <a:t>Onychophora</a:t>
            </a:r>
            <a:r>
              <a:rPr lang="en-CA" dirty="0" smtClean="0"/>
              <a:t> is not a well sampled taxa.</a:t>
            </a:r>
          </a:p>
          <a:p>
            <a:pPr lvl="1"/>
            <a:r>
              <a:rPr lang="en-CA" dirty="0" smtClean="0"/>
              <a:t>Known to be elusive, and sightings are rare.</a:t>
            </a:r>
          </a:p>
          <a:p>
            <a:pPr lvl="1"/>
            <a:r>
              <a:rPr lang="en-CA" dirty="0" smtClean="0"/>
              <a:t>The majority of BOLD samples were taken from NCBI, and not sampled directly from an environment.</a:t>
            </a:r>
          </a:p>
          <a:p>
            <a:pPr lvl="1"/>
            <a:r>
              <a:rPr lang="en-CA" dirty="0" smtClean="0"/>
              <a:t>As a result, very few </a:t>
            </a:r>
            <a:r>
              <a:rPr lang="en-CA" dirty="0" err="1" smtClean="0"/>
              <a:t>Onychophora</a:t>
            </a:r>
            <a:r>
              <a:rPr lang="en-CA" dirty="0" smtClean="0"/>
              <a:t> entries have an associated region.</a:t>
            </a:r>
          </a:p>
          <a:p>
            <a:r>
              <a:rPr lang="en-CA" dirty="0" err="1" smtClean="0"/>
              <a:t>Chilopoda</a:t>
            </a:r>
            <a:r>
              <a:rPr lang="en-CA" dirty="0"/>
              <a:t> </a:t>
            </a:r>
            <a:r>
              <a:rPr lang="en-CA" dirty="0" smtClean="0"/>
              <a:t>is better sampled, but there may be more overlap than this analysis shows</a:t>
            </a:r>
          </a:p>
          <a:p>
            <a:pPr lvl="1"/>
            <a:r>
              <a:rPr lang="en-CA" dirty="0" smtClean="0"/>
              <a:t>With more thorough </a:t>
            </a:r>
            <a:r>
              <a:rPr lang="en-CA" dirty="0" err="1" smtClean="0"/>
              <a:t>Onychophora</a:t>
            </a:r>
            <a:r>
              <a:rPr lang="en-CA" dirty="0" smtClean="0"/>
              <a:t> sampling, added regions would also likely contain </a:t>
            </a:r>
            <a:r>
              <a:rPr lang="en-CA" dirty="0" err="1" smtClean="0"/>
              <a:t>Chilopoda</a:t>
            </a:r>
            <a:r>
              <a:rPr lang="en-CA" dirty="0" smtClean="0"/>
              <a:t> species.</a:t>
            </a:r>
          </a:p>
          <a:p>
            <a:r>
              <a:rPr lang="en-CA" dirty="0" smtClean="0"/>
              <a:t>Analysis of percent similarity of sampled BINs could be improved.</a:t>
            </a:r>
          </a:p>
          <a:p>
            <a:pPr lvl="1"/>
            <a:r>
              <a:rPr lang="en-CA" dirty="0" smtClean="0"/>
              <a:t>Additional comparisons should be made, such as </a:t>
            </a:r>
            <a:r>
              <a:rPr lang="en-CA" dirty="0" err="1" smtClean="0"/>
              <a:t>Chilopoda</a:t>
            </a:r>
            <a:r>
              <a:rPr lang="en-CA" dirty="0" smtClean="0"/>
              <a:t> with </a:t>
            </a:r>
            <a:r>
              <a:rPr lang="en-CA" dirty="0" err="1" smtClean="0"/>
              <a:t>Diplopoda</a:t>
            </a:r>
            <a:r>
              <a:rPr lang="en-CA" dirty="0" smtClean="0"/>
              <a:t>, or </a:t>
            </a:r>
            <a:r>
              <a:rPr lang="en-CA" dirty="0" err="1" smtClean="0"/>
              <a:t>Onychophora</a:t>
            </a:r>
            <a:r>
              <a:rPr lang="en-CA" dirty="0" smtClean="0"/>
              <a:t> with </a:t>
            </a:r>
            <a:r>
              <a:rPr lang="en-CA" dirty="0" err="1" smtClean="0"/>
              <a:t>Tardigrada</a:t>
            </a:r>
            <a:r>
              <a:rPr lang="en-CA" dirty="0" smtClean="0"/>
              <a:t>.</a:t>
            </a:r>
          </a:p>
          <a:p>
            <a:pPr lvl="2"/>
            <a:r>
              <a:rPr lang="en-CA" dirty="0" smtClean="0"/>
              <a:t>Determine how strong percent similarity is compared to other relatives.</a:t>
            </a:r>
          </a:p>
          <a:p>
            <a:pPr lvl="1"/>
            <a:r>
              <a:rPr lang="en-CA" dirty="0" smtClean="0"/>
              <a:t>Using a stronger computer, the entire set of BINs could be aligned.</a:t>
            </a:r>
          </a:p>
        </p:txBody>
      </p:sp>
    </p:spTree>
    <p:extLst>
      <p:ext uri="{BB962C8B-B14F-4D97-AF65-F5344CB8AC3E}">
        <p14:creationId xmlns:p14="http://schemas.microsoft.com/office/powerpoint/2010/main" val="27699510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smtClean="0"/>
              <a:t>References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2365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CA" sz="1400" dirty="0" smtClean="0"/>
              <a:t>Campbell L et al. (2011). MicroRNAs and </a:t>
            </a:r>
            <a:r>
              <a:rPr lang="en-CA" sz="1400" dirty="0" err="1" smtClean="0"/>
              <a:t>phylogenomics</a:t>
            </a:r>
            <a:r>
              <a:rPr lang="en-CA" sz="1400" dirty="0" smtClean="0"/>
              <a:t> resolve the relationship of </a:t>
            </a:r>
            <a:r>
              <a:rPr lang="en-CA" sz="1400" dirty="0" err="1" smtClean="0"/>
              <a:t>Tardigrada</a:t>
            </a:r>
            <a:r>
              <a:rPr lang="en-CA" sz="1400" dirty="0" smtClean="0"/>
              <a:t> and suggest that velvet worms are the sister group of Arthropoda. </a:t>
            </a:r>
            <a:r>
              <a:rPr lang="en-CA" sz="1400" i="1" dirty="0" smtClean="0"/>
              <a:t>Proceedings of the National Academy of Sciences USA</a:t>
            </a:r>
            <a:r>
              <a:rPr lang="en-CA" sz="1400" dirty="0" smtClean="0"/>
              <a:t>. 108: 15920-15924.</a:t>
            </a:r>
          </a:p>
          <a:p>
            <a:pPr marL="0" indent="0">
              <a:buNone/>
            </a:pPr>
            <a:r>
              <a:rPr lang="en-CA" sz="1400" dirty="0" smtClean="0"/>
              <a:t>Oliveira I et al. (2013). A new species of </a:t>
            </a:r>
            <a:r>
              <a:rPr lang="en-CA" sz="1400" i="1" dirty="0" err="1" smtClean="0"/>
              <a:t>Eoperipatus</a:t>
            </a:r>
            <a:r>
              <a:rPr lang="en-CA" sz="1400" dirty="0" smtClean="0"/>
              <a:t> (</a:t>
            </a:r>
            <a:r>
              <a:rPr lang="en-CA" sz="1400" dirty="0" err="1" smtClean="0"/>
              <a:t>Onychophora</a:t>
            </a:r>
            <a:r>
              <a:rPr lang="en-CA" sz="1400" dirty="0" smtClean="0"/>
              <a:t>) from Vietnam reveals novel morphological characters for the South-East Asian </a:t>
            </a:r>
            <a:r>
              <a:rPr lang="en-CA" sz="1400" dirty="0" err="1" smtClean="0"/>
              <a:t>Peripatidae</a:t>
            </a:r>
            <a:r>
              <a:rPr lang="en-CA" sz="1400" dirty="0" smtClean="0"/>
              <a:t>. </a:t>
            </a:r>
            <a:r>
              <a:rPr lang="en-CA" sz="1400" i="1" dirty="0" err="1" smtClean="0"/>
              <a:t>Zoologischer</a:t>
            </a:r>
            <a:r>
              <a:rPr lang="en-CA" sz="1400" i="1" dirty="0" smtClean="0"/>
              <a:t> </a:t>
            </a:r>
            <a:r>
              <a:rPr lang="en-CA" sz="1400" i="1" dirty="0" err="1" smtClean="0"/>
              <a:t>Anzeiger</a:t>
            </a:r>
            <a:r>
              <a:rPr lang="en-CA" sz="1400" i="1" dirty="0" smtClean="0"/>
              <a:t>. </a:t>
            </a:r>
            <a:r>
              <a:rPr lang="en-CA" sz="1400" dirty="0" smtClean="0"/>
              <a:t>252: 495-510.</a:t>
            </a:r>
          </a:p>
          <a:p>
            <a:pPr marL="0" indent="0">
              <a:buNone/>
            </a:pPr>
            <a:r>
              <a:rPr lang="en-CA" sz="1400" dirty="0" smtClean="0"/>
              <a:t>Mayer </a:t>
            </a:r>
            <a:r>
              <a:rPr lang="en-CA" sz="1400" dirty="0"/>
              <a:t>G, Franke FA, </a:t>
            </a:r>
            <a:r>
              <a:rPr lang="en-CA" sz="1400" dirty="0" err="1"/>
              <a:t>Treffkorn</a:t>
            </a:r>
            <a:r>
              <a:rPr lang="en-CA" sz="1400" dirty="0"/>
              <a:t> S, Gross V, Oliveira </a:t>
            </a:r>
            <a:r>
              <a:rPr lang="en-CA" sz="1400" dirty="0" smtClean="0"/>
              <a:t>IS, </a:t>
            </a:r>
            <a:r>
              <a:rPr lang="en-CA" sz="1400" dirty="0" err="1" smtClean="0"/>
              <a:t>Wanninger</a:t>
            </a:r>
            <a:r>
              <a:rPr lang="en-CA" sz="1400" dirty="0" smtClean="0"/>
              <a:t> A (Ed). (2015). </a:t>
            </a:r>
            <a:r>
              <a:rPr lang="en-CA" sz="1400" i="1" dirty="0" smtClean="0"/>
              <a:t>Evolutionary </a:t>
            </a:r>
            <a:r>
              <a:rPr lang="en-CA" sz="1400" i="1" dirty="0"/>
              <a:t>Developmental Biology of Invertebrates 3: </a:t>
            </a:r>
            <a:r>
              <a:rPr lang="en-CA" sz="1400" i="1" dirty="0" err="1"/>
              <a:t>Ecdysozoa</a:t>
            </a:r>
            <a:r>
              <a:rPr lang="en-CA" sz="1400" i="1" dirty="0"/>
              <a:t> I: Non- </a:t>
            </a:r>
            <a:r>
              <a:rPr lang="en-CA" sz="1400" i="1" dirty="0" err="1"/>
              <a:t>Tetraconata</a:t>
            </a:r>
            <a:r>
              <a:rPr lang="en-CA" sz="1400" i="1" dirty="0"/>
              <a:t>. </a:t>
            </a:r>
            <a:r>
              <a:rPr lang="en-CA" sz="1400" dirty="0" smtClean="0"/>
              <a:t>Springer: 53–98.</a:t>
            </a:r>
            <a:endParaRPr lang="en-CA" sz="1400" dirty="0"/>
          </a:p>
          <a:p>
            <a:pPr marL="0" indent="0">
              <a:buNone/>
            </a:pPr>
            <a:r>
              <a:rPr lang="en-CA" sz="1400" dirty="0" err="1" smtClean="0"/>
              <a:t>Treffkorn</a:t>
            </a:r>
            <a:r>
              <a:rPr lang="en-CA" sz="1400" dirty="0" smtClean="0"/>
              <a:t> S. (2019, August 7). A day in the life of an </a:t>
            </a:r>
            <a:r>
              <a:rPr lang="en-CA" sz="1400" dirty="0" err="1" smtClean="0"/>
              <a:t>onychophoran</a:t>
            </a:r>
            <a:r>
              <a:rPr lang="en-CA" sz="1400" dirty="0" smtClean="0"/>
              <a:t> lab. </a:t>
            </a:r>
            <a:r>
              <a:rPr lang="en-CA" sz="1400" i="1" dirty="0" smtClean="0"/>
              <a:t>The Company of Biologists</a:t>
            </a:r>
            <a:r>
              <a:rPr lang="en-CA" sz="1400" dirty="0"/>
              <a:t>. </a:t>
            </a:r>
            <a:r>
              <a:rPr lang="en-CA" sz="1400" dirty="0">
                <a:hlinkClick r:id="rId2"/>
              </a:rPr>
              <a:t>https://</a:t>
            </a:r>
            <a:r>
              <a:rPr lang="en-CA" sz="1400" dirty="0" smtClean="0">
                <a:hlinkClick r:id="rId2"/>
              </a:rPr>
              <a:t>thenode.biologists.com/a-day-in-the-life-of-an-onychophoran-lab/lablife</a:t>
            </a:r>
            <a:endParaRPr lang="en-CA" sz="1400" dirty="0" smtClean="0"/>
          </a:p>
          <a:p>
            <a:pPr marL="0" indent="0">
              <a:buNone/>
            </a:pPr>
            <a:r>
              <a:rPr lang="en-CA" sz="1400" dirty="0" smtClean="0"/>
              <a:t>(2013, September). A new old animal. </a:t>
            </a:r>
            <a:r>
              <a:rPr lang="en-CA" sz="1400" i="1" dirty="0" smtClean="0"/>
              <a:t>Understanding Evolution</a:t>
            </a:r>
            <a:r>
              <a:rPr lang="en-CA" sz="1400" dirty="0"/>
              <a:t>. </a:t>
            </a:r>
            <a:r>
              <a:rPr lang="en-CA" sz="1400" dirty="0">
                <a:hlinkClick r:id="rId3"/>
              </a:rPr>
              <a:t>https://</a:t>
            </a:r>
            <a:r>
              <a:rPr lang="en-CA" sz="1400" dirty="0" smtClean="0">
                <a:hlinkClick r:id="rId3"/>
              </a:rPr>
              <a:t>evolution.berkeley.edu/evo-news/a-new-old-animal</a:t>
            </a:r>
            <a:endParaRPr lang="en-CA" sz="1400" dirty="0" smtClean="0"/>
          </a:p>
          <a:p>
            <a:pPr marL="0" indent="0">
              <a:buNone/>
            </a:pPr>
            <a:r>
              <a:rPr lang="en-CA" sz="1400" dirty="0" err="1" smtClean="0"/>
              <a:t>Hammel</a:t>
            </a:r>
            <a:r>
              <a:rPr lang="en-CA" sz="1400" dirty="0"/>
              <a:t> </a:t>
            </a:r>
            <a:r>
              <a:rPr lang="en-CA" sz="1400" dirty="0" smtClean="0"/>
              <a:t>JU, </a:t>
            </a:r>
            <a:r>
              <a:rPr lang="en-CA" sz="1400" dirty="0" err="1" smtClean="0"/>
              <a:t>Wöhrle</a:t>
            </a:r>
            <a:r>
              <a:rPr lang="en-CA" sz="1400" dirty="0" smtClean="0"/>
              <a:t> C. (2022, March 29). Velvet worm brains in HD. </a:t>
            </a:r>
            <a:r>
              <a:rPr lang="en-CA" sz="1400" i="1" dirty="0" smtClean="0"/>
              <a:t>Helmholtz-</a:t>
            </a:r>
            <a:r>
              <a:rPr lang="en-CA" sz="1400" i="1" dirty="0" err="1" smtClean="0"/>
              <a:t>Zentrum</a:t>
            </a:r>
            <a:r>
              <a:rPr lang="en-CA" sz="1400" i="1" dirty="0" smtClean="0"/>
              <a:t> hereon</a:t>
            </a:r>
            <a:r>
              <a:rPr lang="en-CA" sz="1400" dirty="0"/>
              <a:t>. </a:t>
            </a:r>
            <a:r>
              <a:rPr lang="en-CA" sz="1400" dirty="0">
                <a:hlinkClick r:id="rId4"/>
              </a:rPr>
              <a:t>https://</a:t>
            </a:r>
            <a:r>
              <a:rPr lang="en-CA" sz="1400" dirty="0" smtClean="0">
                <a:hlinkClick r:id="rId4"/>
              </a:rPr>
              <a:t>www.hereon.de/communication_media/news/105329/index.php.en</a:t>
            </a:r>
            <a:endParaRPr lang="en-CA" sz="1400" dirty="0" smtClean="0"/>
          </a:p>
          <a:p>
            <a:pPr marL="0" indent="0">
              <a:buNone/>
            </a:pPr>
            <a:r>
              <a:rPr lang="en-CA" sz="1400" dirty="0" smtClean="0"/>
              <a:t>Borges C. (2023, January 3). Amazonian Tricolor Centipede (</a:t>
            </a:r>
            <a:r>
              <a:rPr lang="en-CA" sz="1400" i="1" dirty="0" err="1" smtClean="0"/>
              <a:t>Scolopendra</a:t>
            </a:r>
            <a:r>
              <a:rPr lang="en-CA" sz="1400" i="1" dirty="0" smtClean="0"/>
              <a:t> </a:t>
            </a:r>
            <a:r>
              <a:rPr lang="en-CA" sz="1400" i="1" dirty="0" err="1" smtClean="0"/>
              <a:t>viridicornis</a:t>
            </a:r>
            <a:r>
              <a:rPr lang="en-CA" sz="1400" dirty="0" smtClean="0"/>
              <a:t>). </a:t>
            </a:r>
            <a:r>
              <a:rPr lang="en-CA" sz="1400" i="1" dirty="0" err="1" smtClean="0"/>
              <a:t>iNaturalist</a:t>
            </a:r>
            <a:r>
              <a:rPr lang="en-CA" sz="1400" dirty="0"/>
              <a:t>. </a:t>
            </a:r>
            <a:r>
              <a:rPr lang="en-CA" sz="1400" dirty="0">
                <a:hlinkClick r:id="rId5"/>
              </a:rPr>
              <a:t>https://</a:t>
            </a:r>
            <a:r>
              <a:rPr lang="en-CA" sz="1400" dirty="0" smtClean="0">
                <a:hlinkClick r:id="rId5"/>
              </a:rPr>
              <a:t>www.inaturalist.org/observations/145767270</a:t>
            </a:r>
            <a:endParaRPr lang="en-CA" sz="1400" dirty="0" smtClean="0"/>
          </a:p>
          <a:p>
            <a:pPr marL="0" indent="0">
              <a:buNone/>
            </a:pPr>
            <a:r>
              <a:rPr lang="en-CA" sz="1400" dirty="0"/>
              <a:t>(2025, August). Data visualization with ggplot2 :: Cheat Sheet. </a:t>
            </a:r>
            <a:r>
              <a:rPr lang="en-CA" sz="1400" i="1" dirty="0"/>
              <a:t>Posit Software</a:t>
            </a:r>
            <a:r>
              <a:rPr lang="en-CA" sz="1400" dirty="0"/>
              <a:t>. </a:t>
            </a:r>
            <a:r>
              <a:rPr lang="en-CA" sz="1400" dirty="0">
                <a:hlinkClick r:id="rId6"/>
              </a:rPr>
              <a:t>https://rstudio.github.io/cheatsheets/html/data-visualization.html</a:t>
            </a:r>
            <a:endParaRPr lang="en-CA" sz="1400" dirty="0"/>
          </a:p>
          <a:p>
            <a:pPr marL="0" indent="0">
              <a:buNone/>
            </a:pPr>
            <a:r>
              <a:rPr lang="en-CA" sz="1400" dirty="0"/>
              <a:t>(2025, August). String manipulation with </a:t>
            </a:r>
            <a:r>
              <a:rPr lang="en-CA" sz="1400" dirty="0" err="1"/>
              <a:t>stringr</a:t>
            </a:r>
            <a:r>
              <a:rPr lang="en-CA" sz="1400" dirty="0"/>
              <a:t> :: </a:t>
            </a:r>
            <a:r>
              <a:rPr lang="en-CA" sz="1400" dirty="0" err="1"/>
              <a:t>Cheatsheet</a:t>
            </a:r>
            <a:r>
              <a:rPr lang="en-CA" sz="1400" dirty="0"/>
              <a:t>. </a:t>
            </a:r>
            <a:r>
              <a:rPr lang="en-CA" sz="1400" i="1" dirty="0"/>
              <a:t>Posit Software</a:t>
            </a:r>
            <a:r>
              <a:rPr lang="en-CA" sz="1400" dirty="0"/>
              <a:t>. </a:t>
            </a:r>
            <a:r>
              <a:rPr lang="en-CA" sz="1400" dirty="0">
                <a:hlinkClick r:id="rId7"/>
              </a:rPr>
              <a:t>https://rstudio.github.io/cheatsheets/html/strings.html</a:t>
            </a:r>
            <a:endParaRPr lang="en-CA" sz="1400" dirty="0"/>
          </a:p>
          <a:p>
            <a:pPr marL="0" indent="0">
              <a:buNone/>
            </a:pPr>
            <a:r>
              <a:rPr lang="en-CA" sz="1400" dirty="0"/>
              <a:t>(2025, August). Data transformation with </a:t>
            </a:r>
            <a:r>
              <a:rPr lang="en-CA" sz="1400" dirty="0" err="1"/>
              <a:t>dplyr</a:t>
            </a:r>
            <a:r>
              <a:rPr lang="en-CA" sz="1400" dirty="0"/>
              <a:t> :: </a:t>
            </a:r>
            <a:r>
              <a:rPr lang="en-CA" sz="1400" dirty="0" err="1"/>
              <a:t>Cheatsheet</a:t>
            </a:r>
            <a:r>
              <a:rPr lang="en-CA" sz="1400" dirty="0"/>
              <a:t>. </a:t>
            </a:r>
            <a:r>
              <a:rPr lang="en-CA" sz="1400" i="1" dirty="0"/>
              <a:t>Posit Software</a:t>
            </a:r>
            <a:r>
              <a:rPr lang="en-CA" sz="1400" dirty="0"/>
              <a:t>. </a:t>
            </a:r>
            <a:r>
              <a:rPr lang="en-CA" sz="1400" dirty="0">
                <a:hlinkClick r:id="rId8"/>
              </a:rPr>
              <a:t>https://rstudio.github.io/cheatsheets/html/data-transformation.html</a:t>
            </a:r>
            <a:endParaRPr lang="en-CA" sz="1400" dirty="0"/>
          </a:p>
          <a:p>
            <a:pPr marL="0" indent="0">
              <a:buNone/>
            </a:pPr>
            <a:endParaRPr lang="en-CA" sz="1400" dirty="0"/>
          </a:p>
        </p:txBody>
      </p:sp>
    </p:spTree>
    <p:extLst>
      <p:ext uri="{BB962C8B-B14F-4D97-AF65-F5344CB8AC3E}">
        <p14:creationId xmlns:p14="http://schemas.microsoft.com/office/powerpoint/2010/main" val="18202108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smtClean="0"/>
              <a:t>References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5407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CA" sz="1400" dirty="0" smtClean="0"/>
              <a:t>(2025, August). Venn Diagram. </a:t>
            </a:r>
            <a:r>
              <a:rPr lang="en-CA" sz="1400" i="1" dirty="0" smtClean="0"/>
              <a:t>the R graph gallery</a:t>
            </a:r>
            <a:r>
              <a:rPr lang="en-CA" sz="1400" dirty="0"/>
              <a:t>. </a:t>
            </a:r>
            <a:r>
              <a:rPr lang="en-CA" sz="1400" dirty="0">
                <a:hlinkClick r:id="rId2"/>
              </a:rPr>
              <a:t>https://</a:t>
            </a:r>
            <a:r>
              <a:rPr lang="en-CA" sz="1400" dirty="0" smtClean="0">
                <a:hlinkClick r:id="rId2"/>
              </a:rPr>
              <a:t>r-graph-gallery.com/14-venn-diagramm</a:t>
            </a:r>
            <a:endParaRPr lang="en-CA" sz="1400" dirty="0" smtClean="0"/>
          </a:p>
          <a:p>
            <a:pPr marL="0" indent="0">
              <a:buNone/>
            </a:pPr>
            <a:r>
              <a:rPr lang="en-CA" sz="1400" dirty="0" err="1" smtClean="0"/>
              <a:t>Aboyoun</a:t>
            </a:r>
            <a:r>
              <a:rPr lang="en-CA" sz="1400" dirty="0" smtClean="0"/>
              <a:t> P. (2011, March 2). Pairwise sequence alignments. </a:t>
            </a:r>
            <a:r>
              <a:rPr lang="en-CA" sz="1400" i="1" dirty="0" smtClean="0"/>
              <a:t>Bioconductor</a:t>
            </a:r>
            <a:r>
              <a:rPr lang="en-CA" sz="1400" dirty="0"/>
              <a:t>. </a:t>
            </a:r>
            <a:r>
              <a:rPr lang="en-CA" sz="1400" dirty="0">
                <a:hlinkClick r:id="rId3"/>
              </a:rPr>
              <a:t>https://www.bioconductor.org/packages//</a:t>
            </a:r>
            <a:r>
              <a:rPr lang="en-CA" sz="1400" dirty="0" smtClean="0">
                <a:hlinkClick r:id="rId3"/>
              </a:rPr>
              <a:t>2.7/bioc/vignettes/Biostrings/inst/doc/Alignments.pdf</a:t>
            </a:r>
            <a:endParaRPr lang="en-CA" sz="1400" dirty="0" smtClean="0"/>
          </a:p>
          <a:p>
            <a:pPr marL="0" indent="0">
              <a:buNone/>
            </a:pPr>
            <a:r>
              <a:rPr lang="en-CA" sz="1400" dirty="0" smtClean="0"/>
              <a:t>Thompson RC. (2011, April 13). What is the easiest way to parallelize a vector in R?. </a:t>
            </a:r>
            <a:r>
              <a:rPr lang="en-CA" sz="1400" i="1" dirty="0" err="1" smtClean="0"/>
              <a:t>StackOverflow</a:t>
            </a:r>
            <a:r>
              <a:rPr lang="en-CA" sz="1400" dirty="0"/>
              <a:t>. </a:t>
            </a:r>
            <a:r>
              <a:rPr lang="en-CA" sz="1400" dirty="0">
                <a:hlinkClick r:id="rId4"/>
              </a:rPr>
              <a:t>https://</a:t>
            </a:r>
            <a:r>
              <a:rPr lang="en-CA" sz="1400" dirty="0" smtClean="0">
                <a:hlinkClick r:id="rId4"/>
              </a:rPr>
              <a:t>stackoverflow.com/questions/5571774/what-is-the-easiest-way-to-parallelize-a-vectorized-function-in-r?utm_source=chatgpt.com</a:t>
            </a:r>
            <a:endParaRPr lang="en-CA" sz="1400" dirty="0" smtClean="0"/>
          </a:p>
          <a:p>
            <a:pPr marL="0" indent="0">
              <a:buNone/>
            </a:pPr>
            <a:r>
              <a:rPr lang="en-CA" sz="1400" dirty="0" err="1" smtClean="0"/>
              <a:t>Privé</a:t>
            </a:r>
            <a:r>
              <a:rPr lang="en-CA" sz="1400" dirty="0" smtClean="0"/>
              <a:t> F. (2017, September 5). A guide </a:t>
            </a:r>
            <a:r>
              <a:rPr lang="en-CA" sz="1400" dirty="0"/>
              <a:t>to Parallelism in R. </a:t>
            </a:r>
            <a:r>
              <a:rPr lang="en-CA" sz="1400" dirty="0">
                <a:hlinkClick r:id="rId5"/>
              </a:rPr>
              <a:t>https://privefl.github.io/blog/a-guide-to-parallelism-in-r/?</a:t>
            </a:r>
            <a:r>
              <a:rPr lang="en-CA" sz="1400" dirty="0" smtClean="0">
                <a:hlinkClick r:id="rId5"/>
              </a:rPr>
              <a:t>utm_source=chatgpt.com</a:t>
            </a:r>
            <a:endParaRPr lang="en-CA" sz="1400" dirty="0" smtClean="0"/>
          </a:p>
          <a:p>
            <a:pPr marL="0" indent="0">
              <a:buNone/>
            </a:pPr>
            <a:r>
              <a:rPr lang="en-CA" sz="1400" dirty="0" smtClean="0"/>
              <a:t>Sanderson SP. (2024, May 21). How to split a vector into chunks in R. </a:t>
            </a:r>
            <a:r>
              <a:rPr lang="en-CA" sz="1400" i="1" dirty="0" smtClean="0"/>
              <a:t>Steve’s Data Tips and Tricks</a:t>
            </a:r>
            <a:r>
              <a:rPr lang="en-CA" sz="1400" dirty="0"/>
              <a:t>. </a:t>
            </a:r>
            <a:r>
              <a:rPr lang="en-CA" sz="1400" dirty="0">
                <a:hlinkClick r:id="rId6"/>
              </a:rPr>
              <a:t>https://www.spsanderson.com/steveondata/posts/2024-05-21/?</a:t>
            </a:r>
            <a:r>
              <a:rPr lang="en-CA" sz="1400" dirty="0" smtClean="0">
                <a:hlinkClick r:id="rId6"/>
              </a:rPr>
              <a:t>utm_source=chatgpt.com</a:t>
            </a:r>
            <a:endParaRPr lang="en-CA" sz="1400" dirty="0" smtClean="0"/>
          </a:p>
          <a:p>
            <a:pPr marL="0" indent="0">
              <a:buNone/>
            </a:pPr>
            <a:r>
              <a:rPr lang="en-CA" sz="1400" dirty="0" err="1" smtClean="0"/>
              <a:t>Radečić</a:t>
            </a:r>
            <a:r>
              <a:rPr lang="en-CA" sz="1400" dirty="0" smtClean="0"/>
              <a:t> D. (2024, March 20). R </a:t>
            </a:r>
            <a:r>
              <a:rPr lang="en-CA" sz="1400" dirty="0" err="1" smtClean="0"/>
              <a:t>doParallel</a:t>
            </a:r>
            <a:r>
              <a:rPr lang="en-CA" sz="1400" dirty="0" smtClean="0"/>
              <a:t>: How to parallelize R </a:t>
            </a:r>
            <a:r>
              <a:rPr lang="en-CA" sz="1400" dirty="0" err="1" smtClean="0"/>
              <a:t>Dataframe</a:t>
            </a:r>
            <a:r>
              <a:rPr lang="en-CA" sz="1400" dirty="0" smtClean="0"/>
              <a:t> computations. </a:t>
            </a:r>
            <a:r>
              <a:rPr lang="en-CA" sz="1400" i="1" dirty="0" err="1" smtClean="0"/>
              <a:t>Appsilon</a:t>
            </a:r>
            <a:r>
              <a:rPr lang="en-CA" sz="1400" dirty="0"/>
              <a:t>. </a:t>
            </a:r>
            <a:r>
              <a:rPr lang="en-CA" sz="1400" dirty="0">
                <a:hlinkClick r:id="rId7"/>
              </a:rPr>
              <a:t>https://</a:t>
            </a:r>
            <a:r>
              <a:rPr lang="en-CA" sz="1400" dirty="0" smtClean="0">
                <a:hlinkClick r:id="rId7"/>
              </a:rPr>
              <a:t>www.appsilon.com/post/r-doparallel-dataframe?utm_source=chatgpt.com</a:t>
            </a:r>
            <a:endParaRPr lang="en-CA" sz="1400" dirty="0" smtClean="0"/>
          </a:p>
          <a:p>
            <a:pPr marL="0" indent="0">
              <a:buNone/>
            </a:pPr>
            <a:r>
              <a:rPr lang="en-CA" sz="1400" dirty="0" smtClean="0"/>
              <a:t>(2023, June). How to use </a:t>
            </a:r>
            <a:r>
              <a:rPr lang="en-CA" sz="1400" dirty="0" err="1" smtClean="0"/>
              <a:t>pivot_longer</a:t>
            </a:r>
            <a:r>
              <a:rPr lang="en-CA" sz="1400" dirty="0" smtClean="0"/>
              <a:t> in R?. </a:t>
            </a:r>
            <a:r>
              <a:rPr lang="en-CA" sz="1400" i="1" dirty="0" err="1" smtClean="0"/>
              <a:t>StackOverflow</a:t>
            </a:r>
            <a:r>
              <a:rPr lang="en-CA" sz="1400" dirty="0"/>
              <a:t>. </a:t>
            </a:r>
            <a:r>
              <a:rPr lang="en-CA" sz="1400" dirty="0">
                <a:hlinkClick r:id="rId8"/>
              </a:rPr>
              <a:t>https://</a:t>
            </a:r>
            <a:r>
              <a:rPr lang="en-CA" sz="1400" dirty="0" smtClean="0">
                <a:hlinkClick r:id="rId8"/>
              </a:rPr>
              <a:t>stackoverflow.com/questions/76280929/how-to-use-pivot-longer-in-r?utm_source=chatgpt.com</a:t>
            </a:r>
            <a:endParaRPr lang="en-CA" sz="1400" dirty="0" smtClean="0"/>
          </a:p>
          <a:p>
            <a:pPr marL="0" indent="0">
              <a:buNone/>
            </a:pPr>
            <a:r>
              <a:rPr lang="en-CA" sz="1400" dirty="0" smtClean="0"/>
              <a:t>(2025). Heat map in ggplot2. </a:t>
            </a:r>
            <a:r>
              <a:rPr lang="en-CA" sz="1400" i="1" dirty="0" smtClean="0"/>
              <a:t>R Charts</a:t>
            </a:r>
            <a:r>
              <a:rPr lang="en-CA" sz="1400" dirty="0"/>
              <a:t>. </a:t>
            </a:r>
            <a:r>
              <a:rPr lang="en-CA" sz="1400" dirty="0">
                <a:hlinkClick r:id="rId9"/>
              </a:rPr>
              <a:t>https://r-charts.com/correlation/heat-map-ggplot2/?</a:t>
            </a:r>
            <a:r>
              <a:rPr lang="en-CA" sz="1400" dirty="0" smtClean="0">
                <a:hlinkClick r:id="rId9"/>
              </a:rPr>
              <a:t>utm_source=chatgpt.com</a:t>
            </a:r>
            <a:endParaRPr lang="en-CA" sz="1400" dirty="0" smtClean="0"/>
          </a:p>
          <a:p>
            <a:pPr marL="0" indent="0">
              <a:buNone/>
            </a:pPr>
            <a:r>
              <a:rPr lang="en-CA" sz="1400" dirty="0" smtClean="0"/>
              <a:t>(2022, May). Why am I not getting high-resolution with </a:t>
            </a:r>
            <a:r>
              <a:rPr lang="en-CA" sz="1400" dirty="0" err="1" smtClean="0"/>
              <a:t>ggsave</a:t>
            </a:r>
            <a:r>
              <a:rPr lang="en-CA" sz="1400" dirty="0" smtClean="0"/>
              <a:t>()?. </a:t>
            </a:r>
            <a:r>
              <a:rPr lang="en-CA" sz="1400" i="1" dirty="0" err="1" smtClean="0"/>
              <a:t>StackOverflow</a:t>
            </a:r>
            <a:r>
              <a:rPr lang="en-CA" sz="1400" dirty="0"/>
              <a:t>. </a:t>
            </a:r>
            <a:r>
              <a:rPr lang="en-CA" sz="1400" dirty="0">
                <a:hlinkClick r:id="rId10"/>
              </a:rPr>
              <a:t>https://</a:t>
            </a:r>
            <a:r>
              <a:rPr lang="en-CA" sz="1400" dirty="0" smtClean="0">
                <a:hlinkClick r:id="rId10"/>
              </a:rPr>
              <a:t>stackoverflow.com/questions/70309119/why-am-i-not-getting-high-resolution-with-ggsave?utm_source=chatgpt.com</a:t>
            </a:r>
            <a:endParaRPr lang="en-CA" sz="1400" dirty="0" smtClean="0"/>
          </a:p>
          <a:p>
            <a:pPr marL="0" indent="0">
              <a:buNone/>
            </a:pPr>
            <a:r>
              <a:rPr lang="en-CA" sz="1400" dirty="0" smtClean="0"/>
              <a:t>(2025, September). Set size of </a:t>
            </a:r>
            <a:r>
              <a:rPr lang="en-CA" sz="1400" dirty="0" err="1" smtClean="0"/>
              <a:t>ggsave</a:t>
            </a:r>
            <a:r>
              <a:rPr lang="en-CA" sz="1400" dirty="0" smtClean="0"/>
              <a:t> exactly. </a:t>
            </a:r>
            <a:r>
              <a:rPr lang="en-CA" sz="1400" i="1" dirty="0" err="1" smtClean="0"/>
              <a:t>StackOverflow</a:t>
            </a:r>
            <a:r>
              <a:rPr lang="en-CA" sz="1400" dirty="0"/>
              <a:t>. </a:t>
            </a:r>
            <a:r>
              <a:rPr lang="en-CA" sz="1400" dirty="0">
                <a:hlinkClick r:id="rId11"/>
              </a:rPr>
              <a:t>https://</a:t>
            </a:r>
            <a:r>
              <a:rPr lang="en-CA" sz="1400" dirty="0" smtClean="0">
                <a:hlinkClick r:id="rId11"/>
              </a:rPr>
              <a:t>stackoverflow.com/questions/44711236/set-the-size-of-ggsave-exactly?utm_source=chatgpt.com</a:t>
            </a:r>
            <a:endParaRPr lang="en-CA" sz="1400" dirty="0" smtClean="0"/>
          </a:p>
          <a:p>
            <a:pPr marL="0" indent="0">
              <a:buNone/>
            </a:pPr>
            <a:r>
              <a:rPr lang="en-CA" sz="1400" dirty="0" smtClean="0"/>
              <a:t>Tmiendo2. </a:t>
            </a:r>
            <a:r>
              <a:rPr lang="en-CA" sz="1400" i="1" dirty="0" smtClean="0"/>
              <a:t>Saving a </a:t>
            </a:r>
            <a:r>
              <a:rPr lang="en-CA" sz="1400" i="1" dirty="0" err="1" smtClean="0"/>
              <a:t>ggplot</a:t>
            </a:r>
            <a:r>
              <a:rPr lang="en-CA" sz="1400" i="1" dirty="0" smtClean="0"/>
              <a:t> object as an image</a:t>
            </a:r>
            <a:r>
              <a:rPr lang="en-CA" sz="1400" dirty="0" smtClean="0"/>
              <a:t>. </a:t>
            </a:r>
            <a:r>
              <a:rPr lang="en-CA" sz="1400" i="1" dirty="0" smtClean="0"/>
              <a:t>R as GIS for Economists, </a:t>
            </a:r>
            <a:r>
              <a:rPr lang="en-CA" sz="1400" i="1" dirty="0" err="1"/>
              <a:t>b</a:t>
            </a:r>
            <a:r>
              <a:rPr lang="en-CA" sz="1400" i="1" dirty="0" err="1" smtClean="0"/>
              <a:t>ookdown</a:t>
            </a:r>
            <a:r>
              <a:rPr lang="en-CA" sz="1400" dirty="0"/>
              <a:t>. </a:t>
            </a:r>
            <a:r>
              <a:rPr lang="en-CA" sz="1400" dirty="0">
                <a:hlinkClick r:id="rId12"/>
              </a:rPr>
              <a:t>https://</a:t>
            </a:r>
            <a:r>
              <a:rPr lang="en-CA" sz="1400" dirty="0" smtClean="0">
                <a:hlinkClick r:id="rId12"/>
              </a:rPr>
              <a:t>tmieno2.github.io/R-as-GIS-for-Economists/ggsave.html?utm_source=chatgpt.com</a:t>
            </a:r>
            <a:endParaRPr lang="en-CA" sz="1400" dirty="0" smtClean="0"/>
          </a:p>
          <a:p>
            <a:pPr marL="0" indent="0">
              <a:buNone/>
            </a:pPr>
            <a:endParaRPr lang="en-CA" sz="1400" dirty="0"/>
          </a:p>
        </p:txBody>
      </p:sp>
    </p:spTree>
    <p:extLst>
      <p:ext uri="{BB962C8B-B14F-4D97-AF65-F5344CB8AC3E}">
        <p14:creationId xmlns:p14="http://schemas.microsoft.com/office/powerpoint/2010/main" val="32485516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238</TotalTime>
  <Words>821</Words>
  <Application>Microsoft Office PowerPoint</Application>
  <PresentationFormat>Widescreen</PresentationFormat>
  <Paragraphs>72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Calibri Light</vt:lpstr>
      <vt:lpstr>Office Theme</vt:lpstr>
      <vt:lpstr>Environmental overlap and its impact on bodyplan similarity between Onychophora and Chilopoda</vt:lpstr>
      <vt:lpstr>Onychophora are an unique and elusive phylum</vt:lpstr>
      <vt:lpstr>Chilopoda share some morphology with Onychophora</vt:lpstr>
      <vt:lpstr>Are their morphological similarities explained by convergent evolution, as a result of environmental pressures?</vt:lpstr>
      <vt:lpstr>Hypothesis: There will be considerable environmental overlap between Onychophora and Chilopoda.</vt:lpstr>
      <vt:lpstr>Methods</vt:lpstr>
      <vt:lpstr>PowerPoint Presentation</vt:lpstr>
      <vt:lpstr>Figures</vt:lpstr>
      <vt:lpstr>Few Onychophora and Chilopoda species have been sampled in their shared environments</vt:lpstr>
      <vt:lpstr>The majority of Chilopoda species do not share an ecoregion with Onychophora species</vt:lpstr>
      <vt:lpstr>A pairwise alignment of 500 sampled Onychophora and Chilopoda BIN sequences showed some relatedness</vt:lpstr>
      <vt:lpstr>Results and Discussion</vt:lpstr>
      <vt:lpstr>Analysis shows little environmental overlap between Onychophora and Chilopoda</vt:lpstr>
      <vt:lpstr>Issues with analysis and further steps</vt:lpstr>
      <vt:lpstr>References</vt:lpstr>
      <vt:lpstr>References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 bodyplan similarity between Onychophora and Chilopoda the result of environmental pressures</dc:title>
  <dc:creator>Mateiadmin</dc:creator>
  <cp:lastModifiedBy>Mateiadmin</cp:lastModifiedBy>
  <cp:revision>27</cp:revision>
  <dcterms:created xsi:type="dcterms:W3CDTF">2025-10-13T02:26:09Z</dcterms:created>
  <dcterms:modified xsi:type="dcterms:W3CDTF">2025-10-13T17:27:24Z</dcterms:modified>
</cp:coreProperties>
</file>